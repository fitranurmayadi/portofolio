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9728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TECHNICAL PORTFOLIO &amp; RESEARCH SHOWCASE</a:t>
            </a:r>
          </a:p>
          <a:p>
            <a:pPr>
              <a:spcAft>
                <a:spcPts val="60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FITRA NURMAYADI</a:t>
            </a:r>
          </a:p>
          <a:p>
            <a:pPr>
              <a:spcAft>
                <a:spcPts val="2400"/>
              </a:spcAft>
              <a:defRPr sz="2000">
                <a:solidFill>
                  <a:srgbClr val="CBD5E1"/>
                </a:solidFill>
                <a:latin typeface="Segoe UI"/>
              </a:defRPr>
            </a:pPr>
            <a:r>
              <a:t>Computer &amp; Embedded Systems Engineer</a:t>
            </a:r>
          </a:p>
          <a:p>
            <a:pPr>
              <a:spcAft>
                <a:spcPts val="8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CORE ENGINEERING DISCIPLINES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 1. Edge AI &amp; Hardware Benchmarking (Hailo-8L, Jetson Orin Nano, On-Chip INT8 LLMs)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 2. Robotics &amp; Autonomous Control (6-DOF Kinematics, Dynamic Inverted Pendulums, BLDC)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 3. Reinforcement Learning &amp; Simulation (PyBullet 6-DOF VTVL, MuJoCo, PPO/SAC/TD3)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•  4. Embedded Systems &amp; Custom Hardware (ESP32-S3/C3, FreeRTOS, LoRa, CAN-Bus, KiCad PCBs)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Segoe UI"/>
              </a:defRPr>
            </a:pPr>
            <a:r>
              <a:t>🌐  fitranurmayadi.github.io     |     💻  github.com/fitranurmayadi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CORE COMPETENCIES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Engineering Overview &amp;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Bridging on-device intelligence, high-frequency dynamic control, and custom PCB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579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Edge AI &amp; NPU Benchmarking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14600"/>
            <a:ext cx="2157984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1579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Empirical benchmarking across SBCs &amp; NPUs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Hailo-8L (13 TOPS), Jetson Orin Nano, RK3588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1.84M INT8 Generative LLM on ESP32-S3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Flash-mapped RAG &amp; Vector Embeddings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Inference latency, wattage &amp; thermal profiling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523744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28800"/>
            <a:ext cx="21579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Robotics &amp; Autonomous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2514600"/>
            <a:ext cx="2157984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651760"/>
            <a:ext cx="21579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3-DOF Manipulator with YOLOv11 Visual Sorting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Inverse Kinematics &amp; coordinate transformation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Two-Wheeled Self-Balancing Robot (BLDC)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High-speed optical quadrature velocity loops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FreeRTOS dual-core multitasking control loops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2523744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1579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  <a:latin typeface="Segoe UI"/>
              </a:defRPr>
            </a:pPr>
            <a:r>
              <a:t>RL &amp; Physics Simulation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514600"/>
            <a:ext cx="2157984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21579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PyBullet 6-DOF Falcon 9 VTVL Simulator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Aerodynamic crosswinds &amp; TVC gimbal dynamics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Deep RL algorithms: PPO, SAC, TD3, DDPG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MuJoCo dynamic balancing environments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Sim-to-Real policy transfer &amp; ONNX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645920"/>
            <a:ext cx="2523744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828800"/>
            <a:ext cx="21579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Segoe UI"/>
              </a:defRPr>
            </a:pPr>
            <a:r>
              <a:t>Custom Hardware &amp; IoT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514600"/>
            <a:ext cx="2157984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651760"/>
            <a:ext cx="21579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KiCad 2-layer PCB layout &amp; component assembly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ideaSTEAM XB1: ESP32 development board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Automotive ISO 11898 CAN-Bus telemetry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Long-range solar LoRa wireless sensor networks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Industrial power &amp; environmental telemetry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FLAGSHIP RESEARCH · MASTER'S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YOLO11-OBB SBC &amp; Edge NPU Benchmark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Empirical cross-platform evaluation of oriented object detection on edge silicon.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486400" cy="48463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RESEARCH HIGHLIGHTS &amp; ARCHITECTURE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Evaluated Hardware Platforms: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Raspberry Pi 5 (Cortex-A76), Raspberry Pi AI Kit with Hailo-8L NPU (13 TOPS via PCIe Gen2), NVIDIA Jetson Orin Nano (40 TOPS GPU/NVDLA), and Khadas Edge 2 (RK3588S, 6 TOPS NPU).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Model &amp; Workload: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YOLO11-OBB (Oriented Bounding Box) for aerial and arbitrary-oriented target detection, converted across native runtime backends: Hailo HEF, TensorRT, RKNN, ONNX.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Multi-Metric Empirical Suite: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Evaluated inference latency (ms), frame throughput (FPS), active power draw (Watts via hardware USB power meter), Joules-per-frame energy cost, and thermal throttling under continuous 15-minute load.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Key Conclusion: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Dedicated NPUs (Hailo-8L &amp; RK3588) provide up to 5.4x higher energy efficiency (FPS/Watt) compared to standard host CPU inference while maintaining sub-20ms inference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23317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bb_benchmark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4846320" cy="224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4069080"/>
            <a:ext cx="5029200" cy="23317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bb_benchmark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114800"/>
            <a:ext cx="484632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EDGE AI &amp; EMBEDDED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ESP32 Micro-LM: 1.84M On-Chip Generative Language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100% disconnected on-device token generation with flash-mapped RAG on ESP32-S3.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7548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HARDWARE CONSTRAINTS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SoC Target: ESP32-S3 (Dual-Core Xtensa LX7 @ 240 MHz)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Octal PSRAM: 8MB high-speed memory for KV-cache and intermediate activations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SPI Flash: 16MB mapped via MMU for zero-copy weight execution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Power Envelope: 3.3V, &lt; 240mA active consumption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Firmware Framework: Pure ESP-IDF (C++) with FreeRTOS dual-core task affinity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47548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QUANTIZATION &amp; PIPELINE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Parameter Scale: 1.84M parameters customized for domain-specific telemetry queries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INT8 W8A32 Quantization: Weights stored as signed 8-bit integers, 32-bit accumulators to prevent overflow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Dual-Core Pipelining: Core 0 handles token decoding &amp; attention compute; Core 1 handles stream buffering &amp; UART/OLED display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SIMD Acceleration: Utilizing Xtensa PIE (Processor Instruction Extension) for vector dot-product acceleration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29000" cy="47548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82880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FLASH RAG &amp; BENEFITS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Flash-Mapped Vector Index: Knowledge base encoded into compact INT8 embeddings in flash memory partition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Zero Cloud Dependency: Operates completely offline in air-gapped industrial, defense, or wilderness environments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Zero Subscription / API Cost: No OpenAI or cloud vendor lock-in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Sub-Millisecond Retrieval: Cosine similarity search over sensor datasheets and device error codes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Segoe UI"/>
              </a:defRPr>
            </a:pPr>
            <a:r>
              <a:t>• Immediate Privacy: Raw data never leaves local chip boundary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PHYSICS SIMULATION &amp;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RocketLander3D: 6-DOF Falcon 9 VTVL Flight Simulation &amp; 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Continuous 6-DOF rocketry flight simulator with thrust vectoring &amp; aerodynamic crosswinds.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48463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A855F7"/>
                </a:solidFill>
                <a:latin typeface="Segoe UI"/>
              </a:defRPr>
            </a:pPr>
            <a:r>
              <a:t>DYNAMICS &amp; CONTROL POLICY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High-Fidelity 6-DOF Physics: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Modeled in PyBullet &amp; Farama Gymnasium. Accounts for variable mass depletion as propellant burns, changing center of mass (CoM), and moment of inertia tensor over time.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Actuation &amp; Aerodynamics: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Simulates Thrust Vector Control (TVC) 2-axis engine gimbal deflection (+/- 15 deg), cold gas thruster attitude control, dynamic atmospheric crosswinds, and landing leg ground contact mechanics.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Reinforcement Learning Algorithms: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Trained continuous action-space neural policies: Proximal Policy Optimization (PPO) and Soft Actor-Critic (SAC) against reward formulations prioritizing fuel conservation, upright attitude, and touchdown velocity &lt; 1.0 m/s.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Baseline Benchmarking: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Compared RL policy convergence against classical Cascaded PID and LQR controllers under turbulent wind shear.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3317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cketlander3d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029200" cy="224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cketlander3d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114800"/>
            <a:ext cx="502920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ROBOTICS &amp;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3-DOF Robotic Arm with YOLOv11 Visual Sorting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Integration of real-time machine vision, inverse kinematics, and multi-servo actuation.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48463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HARDWARE &amp; VISION PIPELINE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Robotic Manipulator Hardware: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Heavy-duty aluminum alloy chassis with 3 degrees of freedom plus end-effector gripper. Powered by high-torque metal-gear servos (MG996R / DS3218) driven by a dedicated 16-channel PCA9685 I2C PWM driver.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Vision Pipeline (YOLOv11):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Overhead camera stream processed via YOLOv11 inference for real-time item classification and bounding box localization.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Spatial Coordinate Mapping: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Calibrated OpenCV homography and perspective transformation mapping 2D image pixel coordinates (u, v) into physical millimeter coordinates (X, Y, Z) on the conveyor sorting plane.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▶  Inverse Kinematics Solver: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Geometric and trigonometric IK solver executing on the embedded controller, converting target (X, Y, Z) coordinates into precise joint angles (theta_1, theta_2, theta_3) with trajectory smoothing.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3317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botic_arm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00200"/>
            <a:ext cx="3931920" cy="224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4069080"/>
            <a:ext cx="5212080" cy="233172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botic_arm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114800"/>
            <a:ext cx="393192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ROBOTICS &amp;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Robotics &amp; Dynamic Control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High-frequency embedded balance loops, competitive robotics, and kinematic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TWSBR Nidec 24H BLDC Hardware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Dynamic inverted-pendulum balancing robot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Dual Nidec 24H brushless DC motors with optical quadrature encoders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MPU6050 6-axis IMU complementary sensor fusion filter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High-frequency FreeRTOS dual-core balance loop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Live WiFi / OSC telemetry for state debugging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Competition Line Follower Robot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7-channel front phototransistor array with LM339 comparators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High-RPM coreless DC motors with magnetic hall encoders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Non-volatile EEPROM calibration for on-track PID tuning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Dynamic cornering braking &amp; acceleration feedforward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Wi-Fi Combat Sumo Robot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High-torque differential drive combat platform on ESP32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On-board asynchronous web server (ESPAsyncWebServer)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Zero-latency responsive touch GUI with dual fader controls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SoftAP local wireless network with failsafe timeout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8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Quadruped Spider &amp; Myo EMG Arm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8-DOF spider robot with parametric gait kinematics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Myo EMG armband decoding muscle biopotential signals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Prosthetic hand teleoperation via gesture classification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Smooth servo interpolation avoiding high current spikes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RL ALGORITHMS &amp;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Reinforcement Learning &amp; Physics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Evaluating continuous control algorithms in rigorous physics simulation engines.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twsbr-rl: Inverted Pendulum RL Benchmark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▶ Simulated Physics Engines: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Implemented across both MuJoCo and PyBullet for high-speed parallel rollouts.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▶ Continuous Deep RL Benchmark: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Benchmarked Soft Actor-Critic (SAC), Proximal Policy Optimization (PPO), and Twin Delayed DDPG (TD3) under random impulse disturbances.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▶ Baseline Comparison: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Evaluated against analytical Linear Quadratic Regulator (LQR) and Cascaded PID controllers.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▶ Observation &amp; Reward Space: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Includes tilt angle (theta), angular velocity (theta_dot), cart position (x), linear velocity (x_dot), and motor torque penalization.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▶ Edge Deployment Pipeline: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Trained policy networks exported to ONNX format for on-device inference on embedded ARM/ESP32 microcontrollers.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A855F7"/>
                </a:solidFill>
                <a:latin typeface="Segoe UI"/>
              </a:defRPr>
            </a:pPr>
            <a:r>
              <a:t>LunarLander3D &amp; Sim-to-Real Methodologies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▶ 3D Continuous Low-Gravity Control: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Gymnasium environment simulating descent, attitude orientation, thruster throttling, and leg contact in lunar gravity (1.62 m/s²).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▶ Domain Randomization: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Perturbing friction coefficients, ground slope, sensor noise, and engine response lag during training to prevent overfitting.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▶ Multi-Objective Reward Engineering: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Balancing soft landing speed (&lt; 0.5 m/s), low fuel expenditure, vertical alignment, and landing pad touchdown accuracy.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▶ Sim-to-Real Readiness: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Quantizing observation tensors to fixed-point / INT8, ensuring real-time inference latency fits within hardware micro-loop budgets (&lt; 5ms).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EMBEDDED SYSTEMS &amp; HARDWARE CODESIGN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Custom Embedded Hardware, IoT &amp; PCB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Production-grade microcontrollers, custom PCBs, CAN-bus networks, and wireless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ideaSTEAM XB1: Custom ESP32 Dev Board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Designed 2-layer PCB in KiCad with USB-C CP2102 auto-flasher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High-efficiency LDO regulator circuit with reverse polarity protection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Breadboard-friendly standardized 0.1" breakout headers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Tested and deployed for educational STEM &amp; robotics prototyping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Electric Vehicle (EV) CAN-Bus Telemetry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Automotive ISO 11898 standard implementation via MCP2515 transceiver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Real-time battery pack thermals, cell voltages, and motor RPM telemetry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High-reliability differential signaling rejecting EMI/noise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Local TFT dashboard visualization and alert trigger thresholds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ESP32-C3 RISC-V AC Power Monitoring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Isolated AC power meter via PZEM-004T optical UART isolation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Monitors active power (W), voltage, current (A), energy (kWh), and frequency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MQTT message broker telemetry published to InfluxDB and Grafana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ESP32-C3 single-core RISC-V with WiFi &amp; BLE 5.0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8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0A5FA"/>
                </a:solidFill>
                <a:latin typeface="Segoe UI"/>
              </a:defRPr>
            </a:pPr>
            <a:r>
              <a:t>Solar Long-Range LoRa Agricultural System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Semtech SX1278 433 MHz LoRa transceiver with +20 dBm PA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Deep sleep current &lt; 15 uA powered by solar LiFePO4 battery management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Multi-sensor array: soil moisture, air temperature, relative humidity, light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Range &gt; 5 km non-line-of-sight telemetry in remote farm fields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APPLIED IOT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Industrial &amp; Environmental IoT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Real-world telemetry solutions operating in aquacultural, agricultural, and residential facilities.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Biofloc Fish Pond Automation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Real-time dissolved oxygen (DO), pH, temperature, and water level monitoring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Automated aerator motor control relays with hysteresis thresholds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GSM/GPRS and Wi-Fi dual-fallback telemetry alerting farm managers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Vertical Hydroponic &amp; Nutrient Control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Total Dissolved Solids (TDS) and Electrical Conductivity (EC) feedback loops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Peristaltic dosing pumps for precision pH up/down and nutrient A/B injection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Cyclic irrigation scheduler maintaining root oxygenation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Low-Power Weather Parameter Station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Barometric pressure (BME280), wind speed anemometer, rainfall tipping bucket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Ultra-low-power battery telemetry transmitting via LoRa / MQTT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Tested under tropical outdoor climate conditions for continuous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8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Automated Mushroom Cultivation Environment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Ultrasonic mist humidifiers and exhaust fan ventilation control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High-humidity capacitive sensors preventing spore saturation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Dual-relay actuation maintaining strict 85-95% RH microclimate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ENGINEERING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End-to-End Technology &amp; Tooling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Full vertical integration from schematic capture and board layout to deep learning &amp; 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HARDWARE &amp; FIRMWARE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Microcontrollers: ESP32, ESP32-S3, ESP32-C3 RISC-V, STM32, Arduino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OS &amp; Frameworks: ESP-IDF, FreeRTOS, STM32 HAL, PlatformIO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Protocols: CAN-Bus (ISO 11898), LoRa, I2C, SPI, UART, Modbus RS485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EDA / CAD: KiCad (schematic &amp; multi-layer layout), Fusion 360 (CAD/STL)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EDGE AI &amp; MACHINE LEARNING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Frameworks: PyTorch, TensorFlow Lite for Microcontrollers (TFLM)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Edge Runtimes: Hailo Dataflow Compiler (HEF), NVIDIA TensorRT, RKNN-Toolkit2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Computer Vision: YOLO11-OBB, YOLOv8, OpenCV, Homography / Calibration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Quantization: INT8 W8A32, PTQ (Post-Training Quantization), Flash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5196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SIMULATION &amp; CONTROL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Physics Engines: MuJoCo, PyBullet, Farama Gymnasium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RL Algorithms: Stable-Baselines3 (SAC, PPO, TD3, DDPG, A2C)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Control Theory: LQR (Linear Quadratic Regulator), Cascaded PID, State-Space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Export Formats: ONNX runtime, C++ embedded inference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80"/>
            <a:ext cx="5257800" cy="22402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4800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SYSTEMS, DEVOPS &amp; TELEMETRY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Languages: Python, C/C++, JavaScript, Bash, SQL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IoT &amp; Telemetry: MQTT, WebSockets, OSC, REST API, ESPAsyncWebServer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Data &amp; Monitoring: InfluxDB, Grafana, Node-RED, Linux / Docker</a:t>
            </a:r>
          </a:p>
          <a:p>
            <a:pPr>
              <a:spcAft>
                <a:spcPts val="3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Version Control &amp; CI/CD: Git, GitHub, Automated testing &amp;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PUBLIC CODEBASES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Open Source Project Index &amp; GitHub Repositories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Well-documented, verifiable engineering repositories available on GitHub.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github.com/fitranurmayadi/obb-sbc-benchmark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Master's Thesis: Cross-platform YOLO11-OBB benchmark on Hailo-8L, Jetson, Khadas  (Python, TensorRT, HEF)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525780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github.com/fitranurmayadi/esp32-microlm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100% on-device 1.84M INT8 generative language model &amp; flash RAG on ESP32-S3  (C++, ESP-IDF, FreeRTOS)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525780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github.com/fitranurmayadi/rocketlander3d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6-DOF Falcon 9 VTVL flight simulator with thrust vector control and deep RL  (Python, PyBullet, Gymnasium)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525780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github.com/fitranurmayadi/twsbr-rl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MuJoCo/PyBullet simulation environment &amp; RL balance benchmark with ONNX export  (Python, MuJoCo, SB3)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525780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7784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github.com/fitranurmayadi/ESP32C3-PowerMonitoring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AC energy monitoring via PZEM-004T optical UART and MQTT telemetry  (C++, ESP32-C3, MQTT)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645920"/>
            <a:ext cx="525780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3736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github.com/fitranurmayadi/line-follower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High-speed line follower with on-track EEPROM PID auto-calibration  (C++, PWM, Hardware Encoders)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606040"/>
            <a:ext cx="525780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github.com/fitranurmayadi/S2SProject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On-chip Genetic Algorithm PID auto-tuning on dual-core ESP32-S3  (C++, GA, Embedded Optimization)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66160"/>
            <a:ext cx="525780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5760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github.com/fitranurmayadi/weather-stations-lora-mqtt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Solar-powered long-range multi-sensor meteorological station  (C++, LoRa, Deep Sleep)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526280"/>
            <a:ext cx="525780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61772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github.com/fitranurmayadi/waterflow-monitoring-mqtt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Precision Hall-effect fluid dynamics telemetry with MQTT alerting  (C++, Pulse Counter, FreeRTOS)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486400"/>
            <a:ext cx="5257800" cy="86868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557784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github.com/fitranurmayadi/muse-myo-arduino-js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EMG biopotential classification and robotic hand teleoperation  (C++, JavaScript, Web Bluetooth)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5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ENGINEERING PHILOSOPHY &amp; SUMMARY</a:t>
            </a:r>
          </a:p>
          <a:p>
            <a:pPr>
              <a:spcAft>
                <a:spcPts val="2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Committed to rigorous, first-principles engineering across the full hardware-software stack. Whether deploying INT8 quantized neural networks to resource-constrained microcontrollers, modeling 6-DOF dynamic physics environments, or routing impedance-controlled PCBs in KiCad, the objective remains clear: high reliability, verifiable benchmarks, and zero unnecessary fluff.</a:t>
            </a:r>
          </a:p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CONNECT &amp; COLLABORATE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Portfolio Website:  https://fitranurmayadi.github.io</a:t>
            </a:r>
          </a:p>
          <a:p>
            <a:pPr>
              <a:spcAft>
                <a:spcPts val="4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GitHub Profile:  https://github.com/fitranurmayadi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Primary Disciplines:  Edge AI Acceleration · Embedded Systems · Robotics &amp; Dynamics · Physics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